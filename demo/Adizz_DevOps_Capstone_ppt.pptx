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23960" y="731520"/>
            <a:ext cx="2468880" cy="2468880"/>
          </a:xfrm>
          <a:prstGeom prst="roundRect">
            <a:avLst/>
          </a:prstGeom>
          <a:solidFill>
            <a:srgbClr val="48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2743200"/>
            <a:ext cx="1554480" cy="1554480"/>
          </a:xfrm>
          <a:prstGeom prst="roundRect">
            <a:avLst/>
          </a:prstGeom>
          <a:solidFill>
            <a:srgbClr val="3EC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92440" y="4023360"/>
            <a:ext cx="2103120" cy="1005840"/>
          </a:xfrm>
          <a:prstGeom prst="roundRect">
            <a:avLst/>
          </a:prstGeom>
          <a:solidFill>
            <a:srgbClr val="2F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59436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3ECAD2"/>
                </a:solidFill>
                <a:latin typeface="Aptos"/>
              </a:rPr>
              <a:t>ADIZZ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740664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3400" b="1">
                <a:solidFill>
                  <a:srgbClr val="F8FAFC"/>
                </a:solidFill>
                <a:latin typeface="Aptos"/>
              </a:rPr>
              <a:t>Travel &amp; Booking</a:t>
            </a:r>
          </a:p>
          <a:p>
            <a:pPr algn="l">
              <a:spcAft>
                <a:spcPts val="700"/>
              </a:spcAft>
            </a:pPr>
            <a:r>
              <a:rPr sz="3400" b="1">
                <a:solidFill>
                  <a:srgbClr val="F8FAFC"/>
                </a:solidFill>
                <a:latin typeface="Aptos"/>
              </a:rPr>
              <a:t>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58521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100" b="0">
                <a:solidFill>
                  <a:srgbClr val="AEBCD0"/>
                </a:solidFill>
                <a:latin typeface="Aptos"/>
              </a:rPr>
              <a:t>DevOps Capstone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69494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F8FAFC"/>
                </a:solidFill>
                <a:latin typeface="Aptos"/>
              </a:rPr>
              <a:t>Application • CI/CD • Containers • Kubernetes • Observability • IaC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15000"/>
            <a:ext cx="7498079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AEBCD0"/>
                </a:solidFill>
                <a:latin typeface="Aptos"/>
              </a:rPr>
              <a:t>Repository: github.com/Adizz20/adizz-devops-capstone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7220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3ECAD2"/>
                </a:solidFill>
                <a:latin typeface="Aptos"/>
              </a:rPr>
              <a:t>Final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F8FAFC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607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3ECAD2"/>
                </a:solidFill>
                <a:latin typeface="Aptos"/>
              </a:rPr>
              <a:t>01 / THE PROBLEM AND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61872"/>
            <a:ext cx="10927080" cy="22860"/>
          </a:xfrm>
          <a:prstGeom prst="rect">
            <a:avLst/>
          </a:prstGeom>
          <a:solidFill>
            <a:srgbClr val="48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789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AEBCD0"/>
                </a:solidFill>
                <a:latin typeface="Aptos"/>
              </a:rPr>
              <a:t>ADIZZ  •  DEVOPS CAPSTONE                                    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33272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200" b="1">
                <a:solidFill>
                  <a:srgbClr val="F8FAFC"/>
                </a:solidFill>
                <a:latin typeface="Aptos"/>
              </a:rPr>
              <a:t>A single web interface for creating and managing travel bookings, backed by a REST API and a production-style delivery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743200"/>
            <a:ext cx="3337560" cy="2057400"/>
          </a:xfrm>
          <a:prstGeom prst="roundRect">
            <a:avLst/>
          </a:prstGeom>
          <a:solidFill>
            <a:srgbClr val="1F2E48"/>
          </a:solidFill>
          <a:ln>
            <a:solidFill>
              <a:srgbClr val="364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743200"/>
            <a:ext cx="64008" cy="2057400"/>
          </a:xfrm>
          <a:prstGeom prst="rect">
            <a:avLst/>
          </a:prstGeom>
          <a:solidFill>
            <a:srgbClr val="48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292607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64992"/>
            <a:ext cx="2926079" cy="1307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React + Vite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Responsive booking dashboard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Calls backend APIs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743200"/>
            <a:ext cx="3337560" cy="2057400"/>
          </a:xfrm>
          <a:prstGeom prst="roundRect">
            <a:avLst/>
          </a:prstGeom>
          <a:solidFill>
            <a:srgbClr val="1F2E48"/>
          </a:solidFill>
          <a:ln>
            <a:solidFill>
              <a:srgbClr val="364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2743200"/>
            <a:ext cx="64008" cy="2057400"/>
          </a:xfrm>
          <a:prstGeom prst="rect">
            <a:avLst/>
          </a:prstGeom>
          <a:solidFill>
            <a:srgbClr val="3EC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926080"/>
            <a:ext cx="292607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364992"/>
            <a:ext cx="2926079" cy="1307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FastAPI REST API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Booking CRUD endpoints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Health and metrics endpoints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743200"/>
            <a:ext cx="3337560" cy="2057400"/>
          </a:xfrm>
          <a:prstGeom prst="roundRect">
            <a:avLst/>
          </a:prstGeom>
          <a:solidFill>
            <a:srgbClr val="1F2E48"/>
          </a:solidFill>
          <a:ln>
            <a:solidFill>
              <a:srgbClr val="364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743200"/>
            <a:ext cx="64008" cy="2057400"/>
          </a:xfrm>
          <a:prstGeom prst="rect">
            <a:avLst/>
          </a:prstGeom>
          <a:solidFill>
            <a:srgbClr val="59C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926080"/>
            <a:ext cx="292607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Data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364992"/>
            <a:ext cx="2926079" cy="1307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PostgreSQL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Alembic migrations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Persistent booking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49240"/>
            <a:ext cx="104241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Goal: demonstrate the complete path from code commit to tested, scanned, containerized, and orchestrated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F8FAFC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607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3ECAD2"/>
                </a:solidFill>
                <a:latin typeface="Aptos"/>
              </a:rPr>
              <a:t>02 / REQUEST AND DELIVERY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61872"/>
            <a:ext cx="10927080" cy="22860"/>
          </a:xfrm>
          <a:prstGeom prst="rect">
            <a:avLst/>
          </a:prstGeom>
          <a:solidFill>
            <a:srgbClr val="48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789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AEBCD0"/>
                </a:solidFill>
                <a:latin typeface="Aptos"/>
              </a:rPr>
              <a:t>ADIZZ  •  DEVOPS CAPSTONE                                    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194560" cy="960120"/>
          </a:xfrm>
          <a:prstGeom prst="roundRect">
            <a:avLst/>
          </a:prstGeom>
          <a:solidFill>
            <a:srgbClr val="1F2E48"/>
          </a:solidFill>
          <a:ln>
            <a:solidFill>
              <a:srgbClr val="364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64008" cy="960120"/>
          </a:xfrm>
          <a:prstGeom prst="rect">
            <a:avLst/>
          </a:prstGeom>
          <a:solidFill>
            <a:srgbClr val="48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1783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Browser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50592"/>
            <a:ext cx="17830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AEBCD0"/>
                </a:solidFill>
                <a:latin typeface="Aptos"/>
              </a:rPr>
              <a:t>React / Vite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828800"/>
            <a:ext cx="2194560" cy="960120"/>
          </a:xfrm>
          <a:prstGeom prst="roundRect">
            <a:avLst/>
          </a:prstGeom>
          <a:solidFill>
            <a:srgbClr val="1F2E48"/>
          </a:solidFill>
          <a:ln>
            <a:solidFill>
              <a:srgbClr val="364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828800"/>
            <a:ext cx="64008" cy="960120"/>
          </a:xfrm>
          <a:prstGeom prst="rect">
            <a:avLst/>
          </a:prstGeom>
          <a:solidFill>
            <a:srgbClr val="3EC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783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Ingress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50592"/>
            <a:ext cx="17830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AEBCD0"/>
                </a:solidFill>
                <a:latin typeface="Aptos"/>
              </a:rPr>
              <a:t>NGINX routes / and /api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828800"/>
            <a:ext cx="2194560" cy="960120"/>
          </a:xfrm>
          <a:prstGeom prst="roundRect">
            <a:avLst/>
          </a:prstGeom>
          <a:solidFill>
            <a:srgbClr val="1F2E48"/>
          </a:solidFill>
          <a:ln>
            <a:solidFill>
              <a:srgbClr val="364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828800"/>
            <a:ext cx="64008" cy="960120"/>
          </a:xfrm>
          <a:prstGeom prst="rect">
            <a:avLst/>
          </a:prstGeom>
          <a:solidFill>
            <a:srgbClr val="59C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011680"/>
            <a:ext cx="1783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API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450592"/>
            <a:ext cx="17830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AEBCD0"/>
                </a:solidFill>
                <a:latin typeface="Aptos"/>
              </a:rPr>
              <a:t>FastAPI / Uvicorn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1080" y="1828800"/>
            <a:ext cx="2560320" cy="960120"/>
          </a:xfrm>
          <a:prstGeom prst="roundRect">
            <a:avLst/>
          </a:prstGeom>
          <a:solidFill>
            <a:srgbClr val="1F2E48"/>
          </a:solidFill>
          <a:ln>
            <a:solidFill>
              <a:srgbClr val="364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41080" y="1828800"/>
            <a:ext cx="64008" cy="960120"/>
          </a:xfrm>
          <a:prstGeom prst="rect">
            <a:avLst/>
          </a:prstGeom>
          <a:solidFill>
            <a:srgbClr val="FF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2011680"/>
            <a:ext cx="214883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450592"/>
            <a:ext cx="2148839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AEBCD0"/>
                </a:solidFill>
                <a:latin typeface="Aptos"/>
              </a:rPr>
              <a:t>PostgreSQL + Alembic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017520" y="2157984"/>
            <a:ext cx="411480" cy="256032"/>
          </a:xfrm>
          <a:prstGeom prst="rightArrow">
            <a:avLst/>
          </a:prstGeom>
          <a:solidFill>
            <a:srgbClr val="3EC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5623560" y="2157984"/>
            <a:ext cx="411479" cy="256032"/>
          </a:xfrm>
          <a:prstGeom prst="rightArrow">
            <a:avLst/>
          </a:prstGeom>
          <a:solidFill>
            <a:srgbClr val="3EC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8229600" y="2157984"/>
            <a:ext cx="411479" cy="256032"/>
          </a:xfrm>
          <a:prstGeom prst="rightArrow">
            <a:avLst/>
          </a:prstGeom>
          <a:solidFill>
            <a:srgbClr val="3EC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0120" y="3794760"/>
            <a:ext cx="3063240" cy="1371600"/>
          </a:xfrm>
          <a:prstGeom prst="roundRect">
            <a:avLst/>
          </a:prstGeom>
          <a:solidFill>
            <a:srgbClr val="1F2E48"/>
          </a:solidFill>
          <a:ln>
            <a:solidFill>
              <a:srgbClr val="364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0120" y="3794760"/>
            <a:ext cx="64008" cy="1371600"/>
          </a:xfrm>
          <a:prstGeom prst="rect">
            <a:avLst/>
          </a:prstGeom>
          <a:solidFill>
            <a:srgbClr val="48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3977640"/>
            <a:ext cx="26517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CI/CD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416552"/>
            <a:ext cx="26517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AEBCD0"/>
                </a:solidFill>
                <a:latin typeface="Aptos"/>
              </a:rPr>
              <a:t>GitHub Actions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AEBCD0"/>
                </a:solidFill>
                <a:latin typeface="Aptos"/>
              </a:rPr>
              <a:t>Tests • build • publish • scan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26280" y="3794760"/>
            <a:ext cx="3063240" cy="1371600"/>
          </a:xfrm>
          <a:prstGeom prst="roundRect">
            <a:avLst/>
          </a:prstGeom>
          <a:solidFill>
            <a:srgbClr val="1F2E48"/>
          </a:solidFill>
          <a:ln>
            <a:solidFill>
              <a:srgbClr val="364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26280" y="3794760"/>
            <a:ext cx="64008" cy="1371600"/>
          </a:xfrm>
          <a:prstGeom prst="rect">
            <a:avLst/>
          </a:prstGeom>
          <a:solidFill>
            <a:srgbClr val="3EC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3977640"/>
            <a:ext cx="26517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Runtime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416552"/>
            <a:ext cx="26517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AEBCD0"/>
                </a:solidFill>
                <a:latin typeface="Aptos"/>
              </a:rPr>
              <a:t>Docker • Helm • Kubernetes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2440" y="3794760"/>
            <a:ext cx="3063240" cy="1371600"/>
          </a:xfrm>
          <a:prstGeom prst="roundRect">
            <a:avLst/>
          </a:prstGeom>
          <a:solidFill>
            <a:srgbClr val="1F2E48"/>
          </a:solidFill>
          <a:ln>
            <a:solidFill>
              <a:srgbClr val="364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92440" y="3794760"/>
            <a:ext cx="64008" cy="1371600"/>
          </a:xfrm>
          <a:prstGeom prst="rect">
            <a:avLst/>
          </a:prstGeom>
          <a:solidFill>
            <a:srgbClr val="59C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3977640"/>
            <a:ext cx="26517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Observability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416552"/>
            <a:ext cx="26517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AEBCD0"/>
                </a:solidFill>
                <a:latin typeface="Aptos"/>
              </a:rPr>
              <a:t>Prometheus • Grafana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577840"/>
            <a:ext cx="102412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AEBCD0"/>
                </a:solidFill>
                <a:latin typeface="Aptos"/>
              </a:rPr>
              <a:t>Terraform provisions AWS networking and EKS for infrastructure demonstration; the AWS resources were destroyed after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F8FAFC"/>
                </a:solidFill>
                <a:latin typeface="Aptos"/>
              </a:rPr>
              <a:t>Application &amp;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607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3ECAD2"/>
                </a:solidFill>
                <a:latin typeface="Aptos"/>
              </a:rPr>
              <a:t>03 / FUNCTIONAL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61872"/>
            <a:ext cx="10927080" cy="22860"/>
          </a:xfrm>
          <a:prstGeom prst="rect">
            <a:avLst/>
          </a:prstGeom>
          <a:solidFill>
            <a:srgbClr val="48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789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AEBCD0"/>
                </a:solidFill>
                <a:latin typeface="Aptos"/>
              </a:rPr>
              <a:t>ADIZZ  •  DEVOPS CAPSTONE                                     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20640" cy="3566160"/>
          </a:xfrm>
          <a:prstGeom prst="roundRect">
            <a:avLst/>
          </a:prstGeom>
          <a:solidFill>
            <a:srgbClr val="1F2E48"/>
          </a:solidFill>
          <a:ln>
            <a:solidFill>
              <a:srgbClr val="364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64008" cy="3566160"/>
          </a:xfrm>
          <a:prstGeom prst="rect">
            <a:avLst/>
          </a:prstGeom>
          <a:solidFill>
            <a:srgbClr val="48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470915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User-facing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13432"/>
            <a:ext cx="4709159" cy="2816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0">
                <a:solidFill>
                  <a:srgbClr val="AEBCD0"/>
                </a:solidFill>
                <a:latin typeface="Aptos"/>
              </a:rPr>
              <a:t>• Responsive booking dashboard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AEBCD0"/>
                </a:solidFill>
                <a:latin typeface="Aptos"/>
              </a:rPr>
              <a:t>• Create and review bookings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AEBCD0"/>
                </a:solidFill>
                <a:latin typeface="Aptos"/>
              </a:rPr>
              <a:t>• Refresh recent booking data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AEBCD0"/>
                </a:solidFill>
                <a:latin typeface="Aptos"/>
              </a:rPr>
              <a:t>• API connection status indicator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120640" cy="3566160"/>
          </a:xfrm>
          <a:prstGeom prst="roundRect">
            <a:avLst/>
          </a:prstGeom>
          <a:solidFill>
            <a:srgbClr val="1F2E48"/>
          </a:solidFill>
          <a:ln>
            <a:solidFill>
              <a:srgbClr val="364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91640"/>
            <a:ext cx="64008" cy="3566160"/>
          </a:xfrm>
          <a:prstGeom prst="rect">
            <a:avLst/>
          </a:prstGeom>
          <a:solidFill>
            <a:srgbClr val="3EC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20"/>
            <a:ext cx="470915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Backend capabilities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13432"/>
            <a:ext cx="4709159" cy="2816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• FastAPI health endpoint: /health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• Booking REST API: /api/bookings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• Prometheus metrics endpoint: /metrics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• PostgreSQL persistence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• Alembic schema migrations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23560"/>
            <a:ext cx="105156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AEBCD0"/>
                </a:solidFill>
                <a:latin typeface="Aptos"/>
              </a:rPr>
              <a:t>Validation evidence: the app loaded through local NGINX Ingress, showed “API Connected,” and the backend returned successful health, bookings, and metrics responses.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F8FAFC"/>
                </a:solidFill>
                <a:latin typeface="Aptos"/>
              </a:rPr>
              <a:t>Containerization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607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3ECAD2"/>
                </a:solidFill>
                <a:latin typeface="Aptos"/>
              </a:rPr>
              <a:t>04 / CONSISTENT RUNTIME PACKAGING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61872"/>
            <a:ext cx="10927080" cy="22860"/>
          </a:xfrm>
          <a:prstGeom prst="rect">
            <a:avLst/>
          </a:prstGeom>
          <a:solidFill>
            <a:srgbClr val="48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789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AEBCD0"/>
                </a:solidFill>
                <a:latin typeface="Aptos"/>
              </a:rPr>
              <a:t>ADIZZ  •  DEVOPS CAPSTONE                                     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429000" cy="3154680"/>
          </a:xfrm>
          <a:prstGeom prst="roundRect">
            <a:avLst/>
          </a:prstGeom>
          <a:solidFill>
            <a:srgbClr val="1F2E48"/>
          </a:solidFill>
          <a:ln>
            <a:solidFill>
              <a:srgbClr val="364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3154680"/>
          </a:xfrm>
          <a:prstGeom prst="rect">
            <a:avLst/>
          </a:prstGeom>
          <a:solidFill>
            <a:srgbClr val="48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Backend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59152"/>
            <a:ext cx="3017520" cy="2404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Python 3.13 slim base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FastAPI + Uvicorn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Non-root runtime user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Health and metrics routes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29000" cy="3154680"/>
          </a:xfrm>
          <a:prstGeom prst="roundRect">
            <a:avLst/>
          </a:prstGeom>
          <a:solidFill>
            <a:srgbClr val="1F2E48"/>
          </a:solidFill>
          <a:ln>
            <a:solidFill>
              <a:srgbClr val="364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64008" cy="3154680"/>
          </a:xfrm>
          <a:prstGeom prst="rect">
            <a:avLst/>
          </a:prstGeom>
          <a:solidFill>
            <a:srgbClr val="3EC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20240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Frontend 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59152"/>
            <a:ext cx="3017520" cy="2404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Multi-stage Node build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Nginx unprivileged runtime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Serves static React build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Reverse-proxies API routes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737360"/>
            <a:ext cx="3429000" cy="3154680"/>
          </a:xfrm>
          <a:prstGeom prst="roundRect">
            <a:avLst/>
          </a:prstGeom>
          <a:solidFill>
            <a:srgbClr val="1F2E48"/>
          </a:solidFill>
          <a:ln>
            <a:solidFill>
              <a:srgbClr val="364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737360"/>
            <a:ext cx="64008" cy="3154680"/>
          </a:xfrm>
          <a:prstGeom prst="rect">
            <a:avLst/>
          </a:prstGeom>
          <a:solidFill>
            <a:srgbClr val="59C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920240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Local orchestration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59152"/>
            <a:ext cx="3017520" cy="2404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Docker Compose services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Backend + frontend + Postgres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Kubernetes deployments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Services and NGINX Ingress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4068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F8FAFC"/>
                </a:solidFill>
                <a:latin typeface="Aptos"/>
              </a:rPr>
              <a:t>Images are published to GitHub Container Registry (GHCR) by the CI workflow.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F8FAFC"/>
                </a:solidFill>
                <a:latin typeface="Aptos"/>
              </a:rPr>
              <a:t>CI/CD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607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3ECAD2"/>
                </a:solidFill>
                <a:latin typeface="Aptos"/>
              </a:rPr>
              <a:t>05 / GITHUB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61872"/>
            <a:ext cx="10927080" cy="22860"/>
          </a:xfrm>
          <a:prstGeom prst="rect">
            <a:avLst/>
          </a:prstGeom>
          <a:solidFill>
            <a:srgbClr val="48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789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AEBCD0"/>
                </a:solidFill>
                <a:latin typeface="Aptos"/>
              </a:rPr>
              <a:t>ADIZZ  •  DEVOPS CAPSTONE                                     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2468880" cy="1828800"/>
          </a:xfrm>
          <a:prstGeom prst="roundRect">
            <a:avLst/>
          </a:prstGeom>
          <a:solidFill>
            <a:srgbClr val="1F2E48"/>
          </a:solidFill>
          <a:ln>
            <a:solidFill>
              <a:srgbClr val="364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64008" cy="1828800"/>
          </a:xfrm>
          <a:prstGeom prst="rect">
            <a:avLst/>
          </a:prstGeom>
          <a:solidFill>
            <a:srgbClr val="48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20574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Backend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70632"/>
            <a:ext cx="2057400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AEBCD0"/>
                </a:solidFill>
                <a:latin typeface="Aptos"/>
              </a:rPr>
              <a:t>pytest suite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572768"/>
            <a:ext cx="5486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400" b="1">
                <a:solidFill>
                  <a:srgbClr val="487EFF"/>
                </a:solidFill>
                <a:latin typeface="Aptos"/>
              </a:rPr>
              <a:t>1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64408" y="2816352"/>
            <a:ext cx="347472" cy="274320"/>
          </a:xfrm>
          <a:prstGeom prst="rightArrow">
            <a:avLst/>
          </a:prstGeom>
          <a:solidFill>
            <a:srgbClr val="3EC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30168" y="2148840"/>
            <a:ext cx="2468880" cy="1828800"/>
          </a:xfrm>
          <a:prstGeom prst="roundRect">
            <a:avLst/>
          </a:prstGeom>
          <a:solidFill>
            <a:srgbClr val="1F2E48"/>
          </a:solidFill>
          <a:ln>
            <a:solidFill>
              <a:srgbClr val="364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30168" y="2148840"/>
            <a:ext cx="64008" cy="1828800"/>
          </a:xfrm>
          <a:prstGeom prst="rect">
            <a:avLst/>
          </a:prstGeom>
          <a:solidFill>
            <a:srgbClr val="3EC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8768" y="2331720"/>
            <a:ext cx="20574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Frontend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2770632"/>
            <a:ext cx="2057400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AEBCD0"/>
                </a:solidFill>
                <a:latin typeface="Aptos"/>
              </a:rPr>
              <a:t>Vite production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3048" y="1572768"/>
            <a:ext cx="5486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400" b="1">
                <a:solidFill>
                  <a:srgbClr val="3ECAD2"/>
                </a:solidFill>
                <a:latin typeface="Aptos"/>
              </a:rPr>
              <a:t>2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117336" y="2816352"/>
            <a:ext cx="347472" cy="274320"/>
          </a:xfrm>
          <a:prstGeom prst="rightArrow">
            <a:avLst/>
          </a:prstGeom>
          <a:solidFill>
            <a:srgbClr val="3EC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83096" y="2148840"/>
            <a:ext cx="2468880" cy="1828800"/>
          </a:xfrm>
          <a:prstGeom prst="roundRect">
            <a:avLst/>
          </a:prstGeom>
          <a:solidFill>
            <a:srgbClr val="1F2E48"/>
          </a:solidFill>
          <a:ln>
            <a:solidFill>
              <a:srgbClr val="364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83096" y="2148840"/>
            <a:ext cx="64008" cy="1828800"/>
          </a:xfrm>
          <a:prstGeom prst="rect">
            <a:avLst/>
          </a:prstGeom>
          <a:solidFill>
            <a:srgbClr val="59C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11696" y="2331720"/>
            <a:ext cx="20574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Publish images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1696" y="2770632"/>
            <a:ext cx="2057400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AEBCD0"/>
                </a:solidFill>
                <a:latin typeface="Aptos"/>
              </a:rPr>
              <a:t>GHCR image packages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5976" y="1572768"/>
            <a:ext cx="5486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400" b="1">
                <a:solidFill>
                  <a:srgbClr val="59CF96"/>
                </a:solidFill>
                <a:latin typeface="Aptos"/>
              </a:rPr>
              <a:t>3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970264" y="2816352"/>
            <a:ext cx="347472" cy="274320"/>
          </a:xfrm>
          <a:prstGeom prst="rightArrow">
            <a:avLst/>
          </a:prstGeom>
          <a:solidFill>
            <a:srgbClr val="3EC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36024" y="2148840"/>
            <a:ext cx="2468880" cy="1828800"/>
          </a:xfrm>
          <a:prstGeom prst="roundRect">
            <a:avLst/>
          </a:prstGeom>
          <a:solidFill>
            <a:srgbClr val="1F2E48"/>
          </a:solidFill>
          <a:ln>
            <a:solidFill>
              <a:srgbClr val="364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36024" y="2148840"/>
            <a:ext cx="64008" cy="1828800"/>
          </a:xfrm>
          <a:prstGeom prst="rect">
            <a:avLst/>
          </a:prstGeom>
          <a:solidFill>
            <a:srgbClr val="FF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64624" y="2331720"/>
            <a:ext cx="20574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Security 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64624" y="2770632"/>
            <a:ext cx="2057400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AEBCD0"/>
                </a:solidFill>
                <a:latin typeface="Aptos"/>
              </a:rPr>
              <a:t>Trivy HIGH / CRITICAL scan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18903" y="1572768"/>
            <a:ext cx="5486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400" b="1">
                <a:solidFill>
                  <a:srgbClr val="FFB45A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754880"/>
            <a:ext cx="1051560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F8FAFC"/>
                </a:solidFill>
                <a:latin typeface="Aptos"/>
              </a:rPr>
              <a:t>Evidence: GitHub Actions run for commit 892676a completed successfully; backend tests, frontend build, image publishing, and Trivy scan jobs were green in the captured run.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806440"/>
            <a:ext cx="10241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AEBCD0"/>
                </a:solidFill>
                <a:latin typeface="Aptos"/>
              </a:rPr>
              <a:t>Repository: github.com/Adizz20/adizz-devops-capstone/actions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F8FAFC"/>
                </a:solidFill>
                <a:latin typeface="Aptos"/>
              </a:rPr>
              <a:t>Container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607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3ECAD2"/>
                </a:solidFill>
                <a:latin typeface="Aptos"/>
              </a:rPr>
              <a:t>06 / TRIVY SCANNING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61872"/>
            <a:ext cx="10927080" cy="22860"/>
          </a:xfrm>
          <a:prstGeom prst="rect">
            <a:avLst/>
          </a:prstGeom>
          <a:solidFill>
            <a:srgbClr val="48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789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AEBCD0"/>
                </a:solidFill>
                <a:latin typeface="Aptos"/>
              </a:rPr>
              <a:t>ADIZZ  •  DEVOPS CAPSTONE                                     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3327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200" b="1">
                <a:solidFill>
                  <a:srgbClr val="F8FAFC"/>
                </a:solidFill>
                <a:latin typeface="Aptos"/>
              </a:rPr>
              <a:t>Security scanning is part of the delivery pipeline—not a manual afterthought.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4846320" cy="2194560"/>
          </a:xfrm>
          <a:prstGeom prst="roundRect">
            <a:avLst/>
          </a:prstGeom>
          <a:solidFill>
            <a:srgbClr val="1F2E48"/>
          </a:solidFill>
          <a:ln>
            <a:solidFill>
              <a:srgbClr val="364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514600"/>
            <a:ext cx="64008" cy="2194560"/>
          </a:xfrm>
          <a:prstGeom prst="rect">
            <a:avLst/>
          </a:prstGeom>
          <a:solidFill>
            <a:srgbClr val="48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697480"/>
            <a:ext cx="44348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Images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36392"/>
            <a:ext cx="4434840" cy="1444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• Backend container image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• Frontend container image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• Trivy runs after image publication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514600"/>
            <a:ext cx="4846320" cy="2194560"/>
          </a:xfrm>
          <a:prstGeom prst="roundRect">
            <a:avLst/>
          </a:prstGeom>
          <a:solidFill>
            <a:srgbClr val="1F2E48"/>
          </a:solidFill>
          <a:ln>
            <a:solidFill>
              <a:srgbClr val="364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514600"/>
            <a:ext cx="64008" cy="2194560"/>
          </a:xfrm>
          <a:prstGeom prst="rect">
            <a:avLst/>
          </a:prstGeom>
          <a:solidFill>
            <a:srgbClr val="FF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44348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Policy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36392"/>
            <a:ext cx="4434840" cy="1444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• Fail pipeline on HIGH / CRITICAL findings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• Review base image and dependency CVEs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• Re-run scan after dependency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257800"/>
            <a:ext cx="103327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The captured Trivy job completed successfully for both images in the latest verified workflow.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F8FAFC"/>
                </a:solidFill>
                <a:latin typeface="Aptos"/>
              </a:rPr>
              <a:t>Kubernetes &amp; Helm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607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3ECAD2"/>
                </a:solidFill>
                <a:latin typeface="Aptos"/>
              </a:rPr>
              <a:t>07 / LOCAL DEPLOYMENT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61872"/>
            <a:ext cx="10927080" cy="22860"/>
          </a:xfrm>
          <a:prstGeom prst="rect">
            <a:avLst/>
          </a:prstGeom>
          <a:solidFill>
            <a:srgbClr val="48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789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AEBCD0"/>
                </a:solidFill>
                <a:latin typeface="Aptos"/>
              </a:rPr>
              <a:t>ADIZZ  •  DEVOPS CAPSTONE                                    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3337560" cy="2926080"/>
          </a:xfrm>
          <a:prstGeom prst="roundRect">
            <a:avLst/>
          </a:prstGeom>
          <a:solidFill>
            <a:srgbClr val="1F2E48"/>
          </a:solidFill>
          <a:ln>
            <a:solidFill>
              <a:srgbClr val="364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91640"/>
            <a:ext cx="64008" cy="2926080"/>
          </a:xfrm>
          <a:prstGeom prst="rect">
            <a:avLst/>
          </a:prstGeom>
          <a:solidFill>
            <a:srgbClr val="48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74520"/>
            <a:ext cx="292607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Workloads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13432"/>
            <a:ext cx="2926079" cy="21762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2 backend replicas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2 frontend replicas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1 PostgreSQL pod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All reported Running / 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37560" cy="2926080"/>
          </a:xfrm>
          <a:prstGeom prst="roundRect">
            <a:avLst/>
          </a:prstGeom>
          <a:solidFill>
            <a:srgbClr val="1F2E48"/>
          </a:solidFill>
          <a:ln>
            <a:solidFill>
              <a:srgbClr val="364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64008" cy="2926080"/>
          </a:xfrm>
          <a:prstGeom prst="rect">
            <a:avLst/>
          </a:prstGeom>
          <a:solidFill>
            <a:srgbClr val="3EC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74520"/>
            <a:ext cx="292607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Networking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13432"/>
            <a:ext cx="2926079" cy="21762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ClusterIP Services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NGINX Ingress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Host: adizz.local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Routes frontend and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91640"/>
            <a:ext cx="3337560" cy="2926080"/>
          </a:xfrm>
          <a:prstGeom prst="roundRect">
            <a:avLst/>
          </a:prstGeom>
          <a:solidFill>
            <a:srgbClr val="1F2E48"/>
          </a:solidFill>
          <a:ln>
            <a:solidFill>
              <a:srgbClr val="364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91640"/>
            <a:ext cx="64008" cy="2926080"/>
          </a:xfrm>
          <a:prstGeom prst="rect">
            <a:avLst/>
          </a:prstGeom>
          <a:solidFill>
            <a:srgbClr val="59C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874520"/>
            <a:ext cx="292607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Release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313432"/>
            <a:ext cx="2926079" cy="21762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Helm release: adizz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Namespace: adizz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Chart: adizz-0.1.0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Release status: deployed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212080"/>
            <a:ext cx="104241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AEBCD0"/>
                </a:solidFill>
                <a:latin typeface="Aptos"/>
              </a:rPr>
              <a:t>The local Kind cluster is the verified runtime for Kubernetes and monitoring evidence. AWS EKS was used for the separate Terraform infrastructure exercise.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F8FAFC"/>
                </a:solidFill>
                <a:latin typeface="Aptos"/>
              </a:rPr>
              <a:t>Monitoring &amp;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607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3ECAD2"/>
                </a:solidFill>
                <a:latin typeface="Aptos"/>
              </a:rPr>
              <a:t>08 / PROMETHEUS + GRAFANA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61872"/>
            <a:ext cx="10927080" cy="22860"/>
          </a:xfrm>
          <a:prstGeom prst="rect">
            <a:avLst/>
          </a:prstGeom>
          <a:solidFill>
            <a:srgbClr val="48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789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AEBCD0"/>
                </a:solidFill>
                <a:latin typeface="Aptos"/>
              </a:rPr>
              <a:t>ADIZZ  •  DEVOPS CAPSTONE                                     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429000" cy="3108960"/>
          </a:xfrm>
          <a:prstGeom prst="roundRect">
            <a:avLst/>
          </a:prstGeom>
          <a:solidFill>
            <a:srgbClr val="1F2E48"/>
          </a:solidFill>
          <a:ln>
            <a:solidFill>
              <a:srgbClr val="364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3108960"/>
          </a:xfrm>
          <a:prstGeom prst="rect">
            <a:avLst/>
          </a:prstGeom>
          <a:solidFill>
            <a:srgbClr val="48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Metrics endpoint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59152"/>
            <a:ext cx="3017520" cy="23591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/metrics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HTTP request counters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Request handler labels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Python process metrics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29000" cy="3108960"/>
          </a:xfrm>
          <a:prstGeom prst="roundRect">
            <a:avLst/>
          </a:prstGeom>
          <a:solidFill>
            <a:srgbClr val="1F2E48"/>
          </a:solidFill>
          <a:ln>
            <a:solidFill>
              <a:srgbClr val="364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64008" cy="3108960"/>
          </a:xfrm>
          <a:prstGeom prst="rect">
            <a:avLst/>
          </a:prstGeom>
          <a:solidFill>
            <a:srgbClr val="3EC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20240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Prometheus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59152"/>
            <a:ext cx="3017520" cy="23591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ServiceMonitor targets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Backend scrape endpoints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Captured targets: UP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15-second scrape interval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737360"/>
            <a:ext cx="3429000" cy="3108960"/>
          </a:xfrm>
          <a:prstGeom prst="roundRect">
            <a:avLst/>
          </a:prstGeom>
          <a:solidFill>
            <a:srgbClr val="1F2E48"/>
          </a:solidFill>
          <a:ln>
            <a:solidFill>
              <a:srgbClr val="364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737360"/>
            <a:ext cx="64008" cy="3108960"/>
          </a:xfrm>
          <a:prstGeom prst="rect">
            <a:avLst/>
          </a:prstGeom>
          <a:solidFill>
            <a:srgbClr val="59C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920240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Grafana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59152"/>
            <a:ext cx="3017520" cy="23591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Total API requests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Request rate by endpoint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API latency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Healthy backend replicas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40680"/>
            <a:ext cx="104241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F8FAFC"/>
                </a:solidFill>
                <a:latin typeface="Aptos"/>
              </a:rPr>
              <a:t>Captured dashboard displayed non-zero API request counts and 2 healthy backend replicas.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F8FAFC"/>
                </a:solidFill>
                <a:latin typeface="Aptos"/>
              </a:rPr>
              <a:t>Infrastructure as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607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3ECAD2"/>
                </a:solidFill>
                <a:latin typeface="Aptos"/>
              </a:rPr>
              <a:t>09 / TERRAFORM + AWS EKS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61872"/>
            <a:ext cx="10927080" cy="22860"/>
          </a:xfrm>
          <a:prstGeom prst="rect">
            <a:avLst/>
          </a:prstGeom>
          <a:solidFill>
            <a:srgbClr val="48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789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AEBCD0"/>
                </a:solidFill>
                <a:latin typeface="Aptos"/>
              </a:rPr>
              <a:t>ADIZZ  •  DEVOPS CAPSTONE                                    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074920" cy="3246120"/>
          </a:xfrm>
          <a:prstGeom prst="roundRect">
            <a:avLst/>
          </a:prstGeom>
          <a:solidFill>
            <a:srgbClr val="1F2E48"/>
          </a:solidFill>
          <a:ln>
            <a:solidFill>
              <a:srgbClr val="364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64008" cy="3246120"/>
          </a:xfrm>
          <a:prstGeom prst="rect">
            <a:avLst/>
          </a:prstGeom>
          <a:solidFill>
            <a:srgbClr val="48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46634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Infrastructure provisioned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13432"/>
            <a:ext cx="4663440" cy="2496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• AWS region: us-east-1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• VPC: 10.20.0.0/16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• Two public subnets across AZs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• EKS cluster: adizz-eks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• Managed node group: adizz-nodes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074920" cy="3246120"/>
          </a:xfrm>
          <a:prstGeom prst="roundRect">
            <a:avLst/>
          </a:prstGeom>
          <a:solidFill>
            <a:srgbClr val="1F2E48"/>
          </a:solidFill>
          <a:ln>
            <a:solidFill>
              <a:srgbClr val="364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64008" cy="3246120"/>
          </a:xfrm>
          <a:prstGeom prst="rect">
            <a:avLst/>
          </a:prstGeom>
          <a:solidFill>
            <a:srgbClr val="59C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20"/>
            <a:ext cx="46634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Lifecycle and cost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13432"/>
            <a:ext cx="4663440" cy="2496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• Terraform init / plan / apply verified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• EKS and worker nodes verified Ready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• Terraform destroy completed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• Cluster later confirmed absent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• Resources removed to avoid ongoing charges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4960"/>
            <a:ext cx="104241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FFB45A"/>
                </a:solidFill>
                <a:latin typeface="Aptos"/>
              </a:rPr>
              <a:t>Important: AWS screenshots are historical evidence of successful provisioning; the AWS resources are not currently running.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F8FAFC"/>
                </a:solidFill>
                <a:latin typeface="Aptos"/>
              </a:rPr>
              <a:t>Testing &amp;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607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3ECAD2"/>
                </a:solidFill>
                <a:latin typeface="Aptos"/>
              </a:rPr>
              <a:t>10 / VERIFICATION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61872"/>
            <a:ext cx="10927080" cy="22860"/>
          </a:xfrm>
          <a:prstGeom prst="rect">
            <a:avLst/>
          </a:prstGeom>
          <a:solidFill>
            <a:srgbClr val="48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789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AEBCD0"/>
                </a:solidFill>
                <a:latin typeface="Aptos"/>
              </a:rPr>
              <a:t>ADIZZ  •  DEVOPS CAPSTONE                                    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429000" cy="3017520"/>
          </a:xfrm>
          <a:prstGeom prst="roundRect">
            <a:avLst/>
          </a:prstGeom>
          <a:solidFill>
            <a:srgbClr val="1F2E48"/>
          </a:solidFill>
          <a:ln>
            <a:solidFill>
              <a:srgbClr val="364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3017520"/>
          </a:xfrm>
          <a:prstGeom prst="rect">
            <a:avLst/>
          </a:prstGeom>
          <a:solidFill>
            <a:srgbClr val="48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Backend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59152"/>
            <a:ext cx="3017520" cy="22677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pytest test suite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Health endpoint coverage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API behavior checks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SQLite test override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29000" cy="3017520"/>
          </a:xfrm>
          <a:prstGeom prst="roundRect">
            <a:avLst/>
          </a:prstGeom>
          <a:solidFill>
            <a:srgbClr val="1F2E48"/>
          </a:solidFill>
          <a:ln>
            <a:solidFill>
              <a:srgbClr val="364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64008" cy="3017520"/>
          </a:xfrm>
          <a:prstGeom prst="rect">
            <a:avLst/>
          </a:prstGeom>
          <a:solidFill>
            <a:srgbClr val="3EC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20240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Build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59152"/>
            <a:ext cx="3017520" cy="22677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Frontend production build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Docker image builds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GitHub Actions validation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AEBCD0"/>
                </a:solidFill>
                <a:latin typeface="Aptos"/>
              </a:rPr>
              <a:t>Repeatable CI feedback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737360"/>
            <a:ext cx="3429000" cy="3017520"/>
          </a:xfrm>
          <a:prstGeom prst="roundRect">
            <a:avLst/>
          </a:prstGeom>
          <a:solidFill>
            <a:srgbClr val="1F2E48"/>
          </a:solidFill>
          <a:ln>
            <a:solidFill>
              <a:srgbClr val="364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737360"/>
            <a:ext cx="64008" cy="3017520"/>
          </a:xfrm>
          <a:prstGeom prst="rect">
            <a:avLst/>
          </a:prstGeom>
          <a:solidFill>
            <a:srgbClr val="59C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920240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Repository hygiene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59152"/>
            <a:ext cx="3017520" cy="22677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Public GitHub repository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Meaningful commit history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Secrets excluded from repo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AEBCD0"/>
                </a:solidFill>
                <a:latin typeface="Aptos"/>
              </a:rPr>
              <a:t>README and evidence 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94960"/>
            <a:ext cx="104241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AEBCD0"/>
                </a:solidFill>
                <a:latin typeface="Aptos"/>
              </a:rPr>
              <a:t>Last checked Git status: clean working tree; branch main synchronized with origin/main.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F8FAFC"/>
                </a:solidFill>
                <a:latin typeface="Aptos"/>
              </a:rPr>
              <a:t>Demo Walkthrough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607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3ECAD2"/>
                </a:solidFill>
                <a:latin typeface="Aptos"/>
              </a:rPr>
              <a:t>11 / END-TO-END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61872"/>
            <a:ext cx="10927080" cy="22860"/>
          </a:xfrm>
          <a:prstGeom prst="rect">
            <a:avLst/>
          </a:prstGeom>
          <a:solidFill>
            <a:srgbClr val="48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789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AEBCD0"/>
                </a:solidFill>
                <a:latin typeface="Aptos"/>
              </a:rPr>
              <a:t>ADIZZ  •  DEVOPS CAPSTONE                            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2412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F8FAFC"/>
                </a:solidFill>
                <a:latin typeface="Aptos"/>
              </a:rPr>
              <a:t>Suggested live demo sequence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154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F8FAFC"/>
                </a:solidFill>
                <a:latin typeface="Aptos"/>
              </a:rPr>
              <a:t>•  Open Adizz at adizz.local: show API Connected and create a sample booking.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F8FAFC"/>
                </a:solidFill>
                <a:latin typeface="Aptos"/>
              </a:rPr>
              <a:t>•  Show Kubernetes pods, Services, Ingress, and deployed Helm release.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F8FAFC"/>
                </a:solidFill>
                <a:latin typeface="Aptos"/>
              </a:rPr>
              <a:t>•  Open Prometheus Targets and confirm the Adizz backend is UP.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F8FAFC"/>
                </a:solidFill>
                <a:latin typeface="Aptos"/>
              </a:rPr>
              <a:t>•  Open Grafana and explain request count, endpoint rate, latency, and replicas.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F8FAFC"/>
                </a:solidFill>
                <a:latin typeface="Aptos"/>
              </a:rPr>
              <a:t>•  Open GitHub Actions and show the green tests, build, publish, and Trivy jobs.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F8FAFC"/>
                </a:solidFill>
                <a:latin typeface="Aptos"/>
              </a:rPr>
              <a:t>•  Explain Terraform-created AWS EKS and show destroy evidence to demonstrate cost cleanup.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3ECAD2"/>
                </a:solidFill>
                <a:latin typeface="Aptos"/>
              </a:rPr>
              <a:t>Thank you  |  Adizz — Travel &amp; Booking Management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